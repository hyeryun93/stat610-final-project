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0" r:id="rId2"/>
    <p:sldId id="256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67" d="100"/>
          <a:sy n="67" d="100"/>
        </p:scale>
        <p:origin x="1628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0D592-0227-4AF7-9C34-4CD017FC4A2C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6E448-C8B9-45A7-B39F-057971187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956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6E448-C8B9-45A7-B39F-057971187A8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537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6E448-C8B9-45A7-B39F-057971187A8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055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50ED1-1F77-96EB-48BC-F1E267664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CF7A8F-04C1-3B00-AA4C-9A33364F9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87AAC-F87D-3BDB-19B8-C0D11A43C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6158-2D3E-4D96-8F3C-D523B539A37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CF35B-1368-EAB9-C63C-74E2A95D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90E05-F644-0735-D654-1419F6014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C8803-3EFD-401C-B733-B6E1659C6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45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EA552-CFD1-FE4C-068F-CF50A12E7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DE4B2-C6B4-D01F-BB28-6D0F65B5C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20FCC-A42F-F5A7-A795-C9B73D727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6158-2D3E-4D96-8F3C-D523B539A37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FE4A1-464D-7925-5FD7-8CF32F31E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EB5DE-0D18-84F9-E32C-4E0130789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C8803-3EFD-401C-B733-B6E1659C6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457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35468-7123-3D53-BC22-971380EA2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09579-E81A-976E-A80A-CA0A55B7D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009C3-B1C6-CE91-3389-E6D06E49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6158-2D3E-4D96-8F3C-D523B539A37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A7610-7844-EE54-1101-38D1FF711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B00EB-AB76-5DA5-0C09-77B956472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C8803-3EFD-401C-B733-B6E1659C6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70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3BA14-8B98-82DE-9DB4-D89466D80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FA368-C003-3F36-C29F-772AC3E805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41E36-FD68-248A-9CDB-5012B4B0A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30953-6CEB-195D-C30C-CE270C3AE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6158-2D3E-4D96-8F3C-D523B539A37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25568-F1B2-2130-AB9B-31C3D9585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6FC6E-8AC8-921B-95D8-8E5930CDD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C8803-3EFD-401C-B733-B6E1659C6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36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9B61B-2005-268D-4B34-9ADA7A765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FDF47-2B6D-A0FC-527D-B27E5B087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F26EC-DC7C-77BD-1E4A-AC06345F6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23C515-598A-E7C6-BA4C-113DCAAD20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C9437A-37AD-6574-B706-4F07D1787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2B8A51-F699-AB12-C967-6FAAE61C4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6158-2D3E-4D96-8F3C-D523B539A37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D8A99C-1413-36A0-BACD-8AD335616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77159F-CFF2-FAA9-61FE-EF3CA8E8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C8803-3EFD-401C-B733-B6E1659C6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66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775ED-FF53-0230-77C0-9630BD700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4C88B5-C116-17EF-B923-A66C540A8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6158-2D3E-4D96-8F3C-D523B539A37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E6FF1-C0C0-C54A-6B3C-63E8BE69C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B5E6E-D6B3-E3BE-84FF-6B81AD860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C8803-3EFD-401C-B733-B6E1659C6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297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9F0EC0-7250-0878-7727-D0C972B30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6158-2D3E-4D96-8F3C-D523B539A37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126974-935B-051D-E9B7-86792D9C8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5724D-2B4D-18F6-534C-C023B353E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C8803-3EFD-401C-B733-B6E1659C6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52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1043E-B028-F748-8FC2-CD7424E90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5AAAB-A3C2-46FC-4BDF-40B4B7F34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972FB-4053-89E2-EED5-6911738C2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630B2-643C-E126-07AF-4A235A2C8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6158-2D3E-4D96-8F3C-D523B539A37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B91BD-EF1C-7276-E29F-D0BE67807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54A94-710A-F287-18C3-549436098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C8803-3EFD-401C-B733-B6E1659C6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15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6C74A-EE58-DC9A-BC92-4D1811685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822025-520B-4769-5E5D-C02439DB91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A7879-75B7-9AFD-41F2-3C9C51D9A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72901-B799-1691-833C-ECF60CD71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6158-2D3E-4D96-8F3C-D523B539A37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081F0-2193-CED2-8B93-C6F9D340F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97615-BE7F-39A9-318E-1A7E55265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C8803-3EFD-401C-B733-B6E1659C6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28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3D95E-F660-F3A0-D3A3-67B4EBEAA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AD2C60-B991-4968-0938-D860B5722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8299C-E015-14BC-6FA6-63ACE89C3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6158-2D3E-4D96-8F3C-D523B539A37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A155A-7076-7A68-5376-9CD0E4A34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FF61C-29F1-E3D9-31A3-CB0ED6E58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C8803-3EFD-401C-B733-B6E1659C6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153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354988-1341-D4BC-6897-B3270C2056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78E70-E1CC-A70C-334B-B80193BD5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7DCF7-E468-1344-7A80-8A70BCB18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6158-2D3E-4D96-8F3C-D523B539A37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0D336-B303-6658-FD38-0BC9CF77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E84EC-0A24-D1AE-D471-5AFF961F6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C8803-3EFD-401C-B733-B6E1659C6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65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644056-925E-F78D-40BE-B0551285B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BC777-2E3D-00F3-8EEF-89E24FCDA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24E73-886E-8505-5382-480E63843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BE6158-2D3E-4D96-8F3C-D523B539A37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ECF3C-DE2D-F0FC-D401-E88A07F24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93E02-5F6A-66ED-7DA9-EF0F197B2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EC8803-3EFD-401C-B733-B6E1659C6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61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0A547-31C9-4B20-0760-2ED7F966C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0CE4D-9120-9407-203F-4F74E76E9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19"/>
            <a:ext cx="9144000" cy="2387600"/>
          </a:xfrm>
        </p:spPr>
        <p:txBody>
          <a:bodyPr/>
          <a:lstStyle/>
          <a:p>
            <a:r>
              <a:rPr lang="en-US" dirty="0"/>
              <a:t>Model Selection  </a:t>
            </a:r>
            <a:br>
              <a:rPr lang="en-US" dirty="0"/>
            </a:br>
            <a:r>
              <a:rPr lang="en-US" dirty="0"/>
              <a:t>:Reliability Check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F5ED15-6C33-9E46-E48A-4E5088E0F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1" y="3066071"/>
            <a:ext cx="11141618" cy="2977871"/>
          </a:xfrm>
        </p:spPr>
        <p:txBody>
          <a:bodyPr/>
          <a:lstStyle/>
          <a:p>
            <a:r>
              <a:rPr lang="en-US" sz="2800" dirty="0"/>
              <a:t>Background: Many Predictors, Few True Effects.</a:t>
            </a:r>
          </a:p>
          <a:p>
            <a:r>
              <a:rPr lang="en-US" sz="2800" dirty="0"/>
              <a:t>Method: Backward Stepwise (AIC).</a:t>
            </a:r>
          </a:p>
          <a:p>
            <a:r>
              <a:rPr lang="en-US" sz="2800" dirty="0"/>
              <a:t>The Problem: Invalidates P-values- Selection Bias </a:t>
            </a:r>
          </a:p>
          <a:p>
            <a:pPr algn="l"/>
            <a:endParaRPr lang="en-US" sz="2800" dirty="0"/>
          </a:p>
          <a:p>
            <a:pPr algn="l"/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/>
              <a:t>Goal: Demonstrate how p-values become invalid through simulation.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590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463B9-7693-5D9C-EBAD-6A0A1A77B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3200" y="568960"/>
            <a:ext cx="9245600" cy="1153477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44CD01-0F2F-97BA-CB00-06B13FFBC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8920" y="1971040"/>
            <a:ext cx="9154160" cy="3820160"/>
          </a:xfrm>
        </p:spPr>
        <p:txBody>
          <a:bodyPr>
            <a:normAutofit/>
          </a:bodyPr>
          <a:lstStyle/>
          <a:p>
            <a:pPr marL="514350" indent="-514350" algn="l">
              <a:buAutoNum type="arabicParenBoth"/>
            </a:pPr>
            <a:r>
              <a:rPr lang="en-US" sz="2800" dirty="0"/>
              <a:t>Write a backward stepwise function using AIC.</a:t>
            </a:r>
            <a:br>
              <a:rPr lang="en-US" sz="2800" dirty="0"/>
            </a:br>
            <a:endParaRPr lang="en-US" sz="2800" dirty="0"/>
          </a:p>
          <a:p>
            <a:pPr marL="514350" indent="-514350" algn="l">
              <a:buAutoNum type="arabicParenBoth"/>
            </a:pPr>
            <a:r>
              <a:rPr lang="en-US" sz="2800" dirty="0"/>
              <a:t>Run simulations to see which variables get selected.</a:t>
            </a:r>
            <a:br>
              <a:rPr lang="en-US" sz="2800" dirty="0"/>
            </a:br>
            <a:endParaRPr lang="en-US" sz="2800" dirty="0"/>
          </a:p>
          <a:p>
            <a:pPr marL="514350" indent="-514350" algn="l">
              <a:buAutoNum type="arabicParenBoth"/>
            </a:pPr>
            <a:r>
              <a:rPr lang="en-US" sz="2800" dirty="0"/>
              <a:t>Check whether the usual p-values behave correctly after selection.</a:t>
            </a:r>
          </a:p>
          <a:p>
            <a:pPr algn="l"/>
            <a:endParaRPr lang="en-US" sz="2800" dirty="0"/>
          </a:p>
          <a:p>
            <a:pPr algn="l"/>
            <a:r>
              <a:rPr lang="en-US" sz="2800" dirty="0">
                <a:sym typeface="Wingdings" panose="05000000000000000000" pitchFamily="2" charset="2"/>
              </a:rPr>
              <a:t></a:t>
            </a:r>
            <a:r>
              <a:rPr lang="en-US" sz="2800" dirty="0"/>
              <a:t> AIC: consistent criterion for choosing the better model</a:t>
            </a:r>
          </a:p>
          <a:p>
            <a:pPr algn="l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77074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DDB79-A903-C557-7324-1D9E366FB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DFEEC-D8D2-4B59-5F01-4FC34A7540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2400" y="604203"/>
            <a:ext cx="8585200" cy="381317"/>
          </a:xfrm>
        </p:spPr>
        <p:txBody>
          <a:bodyPr>
            <a:normAutofit fontScale="90000"/>
          </a:bodyPr>
          <a:lstStyle/>
          <a:p>
            <a:r>
              <a:rPr lang="en-US" dirty="0"/>
              <a:t>Design Decisions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78925D5F-ED3B-DCED-F7D9-24433567F434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524000" y="1158240"/>
                <a:ext cx="9144000" cy="5364480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 algn="l">
                  <a:buAutoNum type="arabicPeriod"/>
                </a:pPr>
                <a:r>
                  <a:rPr lang="en-US" sz="2800" b="1" dirty="0"/>
                  <a:t>Data Generation</a:t>
                </a:r>
              </a:p>
              <a:p>
                <a:pPr algn="l"/>
                <a:r>
                  <a:rPr lang="en-US" sz="2800" dirty="0"/>
                  <a:t>– Simulated data from a simple linear model,  </a:t>
                </a:r>
                <a:r>
                  <a:rPr lang="en-US" sz="2800" dirty="0">
                    <a:solidFill>
                      <a:srgbClr val="FF0000"/>
                    </a:solidFill>
                  </a:rPr>
                  <a:t>y=X</a:t>
                </a:r>
                <a:r>
                  <a:rPr lang="el-GR" sz="2800" dirty="0">
                    <a:solidFill>
                      <a:srgbClr val="FF0000"/>
                    </a:solidFill>
                  </a:rPr>
                  <a:t>β+ε</a:t>
                </a:r>
                <a:endParaRPr lang="en-US" sz="2800" dirty="0">
                  <a:solidFill>
                    <a:srgbClr val="FF0000"/>
                  </a:solidFill>
                </a:endParaRPr>
              </a:p>
              <a:p>
                <a:pPr algn="l"/>
                <a:r>
                  <a:rPr lang="en-US" sz="2800" b="1" dirty="0"/>
                  <a:t>2. Backward Stepwise with AIC</a:t>
                </a:r>
                <a:br>
                  <a:rPr lang="en-US" sz="2800" dirty="0"/>
                </a:br>
                <a:r>
                  <a:rPr lang="en-US" sz="2800" dirty="0"/>
                  <a:t>– AIC: decide which predictor to remove. </a:t>
                </a:r>
                <a:br>
                  <a:rPr lang="en-US" sz="2800" dirty="0"/>
                </a:br>
                <a:r>
                  <a:rPr lang="en-US" sz="2800" dirty="0"/>
                  <a:t>– Smaller AIC </a:t>
                </a:r>
                <a:r>
                  <a:rPr lang="en-US" sz="2800" dirty="0">
                    <a:sym typeface="Wingdings" panose="05000000000000000000" pitchFamily="2" charset="2"/>
                  </a:rPr>
                  <a:t></a:t>
                </a:r>
                <a:r>
                  <a:rPr lang="en-US" sz="2800" dirty="0"/>
                  <a:t> the model explains the data better</a:t>
                </a:r>
                <a:br>
                  <a:rPr lang="en-US" sz="2800" dirty="0"/>
                </a:br>
                <a:r>
                  <a:rPr lang="en-US" sz="2800" dirty="0"/>
                  <a:t>– Larger AIC </a:t>
                </a:r>
                <a:r>
                  <a:rPr lang="en-US" sz="2800" dirty="0">
                    <a:sym typeface="Wingdings" panose="05000000000000000000" pitchFamily="2" charset="2"/>
                  </a:rPr>
                  <a:t> </a:t>
                </a:r>
                <a:r>
                  <a:rPr lang="en-US" sz="2800" dirty="0"/>
                  <a:t>the model fits the data worse.</a:t>
                </a:r>
              </a:p>
              <a:p>
                <a:pPr algn="l"/>
                <a:r>
                  <a:rPr lang="en-US" sz="2800" b="1" dirty="0">
                    <a:solidFill>
                      <a:srgbClr val="FF0000"/>
                    </a:solidFill>
                  </a:rPr>
                  <a:t>                                          AIC=−2ℓ(</a:t>
                </a:r>
                <a:r>
                  <a:rPr lang="el-GR" sz="2800" b="1" dirty="0">
                    <a:solidFill>
                      <a:srgbClr val="FF0000"/>
                    </a:solidFill>
                  </a:rPr>
                  <a:t>​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l-GR" sz="2800" b="1" dirty="0">
                    <a:solidFill>
                      <a:srgbClr val="FF0000"/>
                    </a:solidFill>
                  </a:rPr>
                  <a:t>)+2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k</a:t>
                </a:r>
              </a:p>
              <a:p>
                <a:r>
                  <a:rPr lang="en-US" sz="2800" b="1" dirty="0">
                    <a:solidFill>
                      <a:srgbClr val="FF0000"/>
                    </a:solidFill>
                  </a:rPr>
                  <a:t>– </a:t>
                </a:r>
                <a14:m>
                  <m:oMath xmlns:m="http://schemas.openxmlformats.org/officeDocument/2006/math">
                    <m:r>
                      <a:rPr lang="en-US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ar-A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ar-AE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</m:d>
                  </m:oMath>
                </a14:m>
                <a:r>
                  <a:rPr lang="ar-AE" sz="2800" b="1" dirty="0">
                    <a:solidFill>
                      <a:srgbClr val="FF0000"/>
                    </a:solidFill>
                  </a:rPr>
                  <a:t>: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log-likelihood</a:t>
                </a:r>
                <a:br>
                  <a:rPr lang="en-US" sz="2800" b="1" dirty="0">
                    <a:solidFill>
                      <a:srgbClr val="FF0000"/>
                    </a:solidFill>
                  </a:rPr>
                </a:br>
                <a:r>
                  <a:rPr lang="en-US" sz="2800" b="1" dirty="0">
                    <a:solidFill>
                      <a:srgbClr val="FF0000"/>
                    </a:solidFill>
                  </a:rPr>
                  <a:t>–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: number of parameters</a:t>
                </a:r>
              </a:p>
              <a:p>
                <a:pPr algn="l"/>
                <a:r>
                  <a:rPr lang="en-US" sz="2800" b="1" dirty="0"/>
                  <a:t>3. Simulation Framework</a:t>
                </a:r>
                <a:br>
                  <a:rPr lang="en-US" sz="2800" dirty="0"/>
                </a:br>
                <a:r>
                  <a:rPr lang="en-US" sz="2800" dirty="0"/>
                  <a:t>– Only X1 and X2 have non-zero effects.</a:t>
                </a:r>
                <a:br>
                  <a:rPr lang="en-US" sz="2800" dirty="0"/>
                </a:br>
                <a:r>
                  <a:rPr lang="en-US" sz="2800" dirty="0"/>
                  <a:t>– Run backward stepwise 1000 times.</a:t>
                </a:r>
                <a:br>
                  <a:rPr lang="en-US" sz="2800" dirty="0"/>
                </a:br>
                <a:r>
                  <a:rPr lang="en-US" sz="2800" dirty="0"/>
                  <a:t>– Record selected variables and p-values.</a:t>
                </a:r>
              </a:p>
              <a:p>
                <a:endParaRPr lang="en-US" sz="2800" dirty="0"/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78925D5F-ED3B-DCED-F7D9-24433567F4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524000" y="1158240"/>
                <a:ext cx="9144000" cy="5364480"/>
              </a:xfrm>
              <a:blipFill>
                <a:blip r:embed="rId2"/>
                <a:stretch>
                  <a:fillRect l="-1333" t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8573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85864-CCD3-C404-2E97-CDEAE2AF7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9215929-6338-C49D-E659-9BEE7A803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59" y="238125"/>
            <a:ext cx="11645265" cy="649604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/>
              <a:t>1. Current model: </a:t>
            </a:r>
            <a:r>
              <a:rPr lang="en-US" b="1" dirty="0"/>
              <a:t>y ~ X1 + X2 + X3 + X4 + X5 + X6 + X7 + X8 + X9 + X10                        950</a:t>
            </a:r>
          </a:p>
          <a:p>
            <a:pPr algn="l"/>
            <a:r>
              <a:rPr lang="en-US" dirty="0"/>
              <a:t>2. AIC Values After Removing Each Variable</a:t>
            </a:r>
          </a:p>
          <a:p>
            <a:r>
              <a:rPr lang="en-US" b="1" dirty="0"/>
              <a:t>                               Variable Removed                                                                       AIC Value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X1</a:t>
            </a:r>
            <a:r>
              <a:rPr lang="en-US" b="1" dirty="0"/>
              <a:t> removed (y ~ X2 + X3 + X4 + X5 + X6 + X7 + X8 + X9 + X10)  	980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X2</a:t>
            </a:r>
            <a:r>
              <a:rPr lang="en-US" b="1" dirty="0"/>
              <a:t> removed (…)	                                                                                                 970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X3</a:t>
            </a:r>
            <a:r>
              <a:rPr lang="en-US" b="1" dirty="0"/>
              <a:t> removed (…)	                                                                                                 990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X4</a:t>
            </a:r>
            <a:r>
              <a:rPr lang="en-US" b="1" dirty="0">
                <a:highlight>
                  <a:srgbClr val="FFFF00"/>
                </a:highlight>
              </a:rPr>
              <a:t> removed (…) 	                                                                                                  925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b="1" dirty="0"/>
              <a:t>  </a:t>
            </a:r>
            <a:r>
              <a:rPr lang="en-US" b="1" dirty="0">
                <a:solidFill>
                  <a:srgbClr val="FF0000"/>
                </a:solidFill>
              </a:rPr>
              <a:t>X5</a:t>
            </a:r>
            <a:r>
              <a:rPr lang="en-US" b="1" dirty="0"/>
              <a:t> removed (…) 	                                                                                                  1005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X6</a:t>
            </a:r>
            <a:r>
              <a:rPr lang="en-US" b="1" dirty="0"/>
              <a:t> removed (…) 	                                                                                                 990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X7 </a:t>
            </a:r>
            <a:r>
              <a:rPr lang="en-US" b="1" dirty="0"/>
              <a:t>removed (…) 	                                                                                                 945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X8</a:t>
            </a:r>
            <a:r>
              <a:rPr lang="en-US" b="1" dirty="0"/>
              <a:t> removed (…) 	                                                                                                  952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 X9</a:t>
            </a:r>
            <a:r>
              <a:rPr lang="en-US" b="1" dirty="0"/>
              <a:t> removed (…) 	                                                                                                 1002</a:t>
            </a:r>
          </a:p>
          <a:p>
            <a:r>
              <a:rPr lang="en-US" b="1" dirty="0">
                <a:solidFill>
                  <a:srgbClr val="FF0000"/>
                </a:solidFill>
              </a:rPr>
              <a:t>X10</a:t>
            </a:r>
            <a:r>
              <a:rPr lang="en-US" b="1" dirty="0"/>
              <a:t> removed (…) 	                                                                                                  978</a:t>
            </a:r>
            <a:endParaRPr lang="en-US" dirty="0"/>
          </a:p>
          <a:p>
            <a:endParaRPr lang="en-US" b="1" dirty="0">
              <a:sym typeface="Wingdings" panose="05000000000000000000" pitchFamily="2" charset="2"/>
            </a:endParaRPr>
          </a:p>
          <a:p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b="1" dirty="0"/>
              <a:t> removing X4 gives the </a:t>
            </a:r>
            <a:r>
              <a:rPr lang="en-US" b="1" dirty="0">
                <a:highlight>
                  <a:srgbClr val="FFFF00"/>
                </a:highlight>
              </a:rPr>
              <a:t>smallest AIC</a:t>
            </a:r>
            <a:r>
              <a:rPr lang="en-US" b="1" dirty="0"/>
              <a:t>    &lt;  950</a:t>
            </a:r>
          </a:p>
          <a:p>
            <a:r>
              <a:rPr lang="en-US" b="1" dirty="0"/>
              <a:t>model formula = y ~ X1 + X2 + X3 + X5 + X6 + X7 + X8 + X9 + X10</a:t>
            </a:r>
          </a:p>
          <a:p>
            <a:pPr algn="l"/>
            <a:r>
              <a:rPr lang="en-US" dirty="0"/>
              <a:t>3. Repeating this process until  removing any variable no longer reduces AIC  </a:t>
            </a:r>
          </a:p>
          <a:p>
            <a:pPr algn="l"/>
            <a:r>
              <a:rPr lang="en-US" dirty="0"/>
              <a:t>4. Final model: X1 , X2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408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88DC8-8CB8-126D-6749-CE39ED7AD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77EAEA-8FE9-97DD-7B4B-9D6441D964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6520" y="4030420"/>
            <a:ext cx="9807682" cy="2827580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/>
              <a:t>“Backward stepwise AIC selects the real predictors, </a:t>
            </a:r>
          </a:p>
          <a:p>
            <a:r>
              <a:rPr lang="en-US" sz="2200" dirty="0"/>
              <a:t>but it also selects some noise variables by mistake”</a:t>
            </a:r>
          </a:p>
          <a:p>
            <a:endParaRPr lang="en-US" sz="2300" dirty="0"/>
          </a:p>
          <a:p>
            <a:r>
              <a:rPr lang="en-US" sz="2300" b="1" dirty="0"/>
              <a:t>Result </a:t>
            </a:r>
          </a:p>
          <a:p>
            <a:r>
              <a:rPr lang="en-US" sz="2300" dirty="0"/>
              <a:t>1. X1 and X2 are always selected for the final model with small p-values.</a:t>
            </a:r>
          </a:p>
          <a:p>
            <a:r>
              <a:rPr lang="en-US" sz="2300" dirty="0"/>
              <a:t>2. Noise variables are sometimes selected and look significant </a:t>
            </a:r>
          </a:p>
          <a:p>
            <a:r>
              <a:rPr lang="en-US" sz="2300" dirty="0"/>
              <a:t>→ </a:t>
            </a:r>
            <a:r>
              <a:rPr lang="en-US" sz="2300" b="1" dirty="0"/>
              <a:t>high Type I Error.</a:t>
            </a:r>
          </a:p>
          <a:p>
            <a:endParaRPr lang="en-US" sz="1800" dirty="0"/>
          </a:p>
        </p:txBody>
      </p:sp>
      <p:pic>
        <p:nvPicPr>
          <p:cNvPr id="5" name="Picture 4" descr="A diagram of a state of error&#10;&#10;AI-generated content may be incorrect.">
            <a:extLst>
              <a:ext uri="{FF2B5EF4-FFF2-40B4-BE49-F238E27FC236}">
                <a16:creationId xmlns:a16="http://schemas.microsoft.com/office/drawing/2014/main" id="{209B67CE-3648-2C7B-A20D-AE525B937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548" y="181039"/>
            <a:ext cx="6442904" cy="377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005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EC2FE-9B3F-2BF7-B5AF-060666DE0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164"/>
            <a:ext cx="9144000" cy="2095500"/>
          </a:xfrm>
        </p:spPr>
        <p:txBody>
          <a:bodyPr>
            <a:normAutofit fontScale="90000"/>
          </a:bodyPr>
          <a:lstStyle/>
          <a:p>
            <a:br>
              <a:rPr lang="en-US" sz="4400" b="1" i="1" dirty="0"/>
            </a:br>
            <a:r>
              <a:rPr lang="en-US" sz="4400" b="1" dirty="0"/>
              <a:t>Why stepwise inference fails</a:t>
            </a:r>
            <a:br>
              <a:rPr lang="en-US" sz="2800" b="1" i="1" dirty="0"/>
            </a:br>
            <a:br>
              <a:rPr lang="en-US" sz="2800" b="1" i="1" dirty="0"/>
            </a:br>
            <a:r>
              <a:rPr lang="en-US" sz="2800" b="1" i="1" u="sng" dirty="0"/>
              <a:t>&lt;An Introduction to Statistical Learning</a:t>
            </a:r>
            <a:r>
              <a:rPr lang="en-US" sz="2800" b="1" u="sng" dirty="0"/>
              <a:t> (ISLR)&gt;</a:t>
            </a:r>
            <a:br>
              <a:rPr lang="en-US" sz="2800" u="sng" dirty="0"/>
            </a:br>
            <a:r>
              <a:rPr lang="en-US" sz="2800" b="1" i="1" u="sng" dirty="0"/>
              <a:t>“Stepwise selection produces overly optimistic inference </a:t>
            </a:r>
            <a:br>
              <a:rPr lang="en-US" sz="2800" b="1" i="1" u="sng" dirty="0"/>
            </a:br>
            <a:r>
              <a:rPr lang="en-US" sz="2800" b="1" i="1" u="sng" dirty="0"/>
              <a:t>and unstable selected models.”</a:t>
            </a:r>
            <a:endParaRPr lang="en-US" sz="2800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36A01B-9585-D456-EE78-D85594417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63" y="1885950"/>
            <a:ext cx="10963274" cy="4868861"/>
          </a:xfrm>
        </p:spPr>
        <p:txBody>
          <a:bodyPr/>
          <a:lstStyle/>
          <a:p>
            <a:endParaRPr lang="en-US" sz="2800" dirty="0"/>
          </a:p>
          <a:p>
            <a:r>
              <a:rPr lang="en-US" sz="2800" dirty="0"/>
              <a:t>✓ p-values become smaller than they should</a:t>
            </a:r>
          </a:p>
          <a:p>
            <a:r>
              <a:rPr lang="en-US" sz="2800" dirty="0"/>
              <a:t>✓ selected variables may </a:t>
            </a:r>
            <a:r>
              <a:rPr lang="en-US" sz="2800" b="1" dirty="0"/>
              <a:t>look significant even when they are not</a:t>
            </a:r>
            <a:endParaRPr lang="en-US" sz="2800" dirty="0"/>
          </a:p>
          <a:p>
            <a:r>
              <a:rPr lang="en-US" sz="2800" dirty="0"/>
              <a:t>✓ noise predictors can appear “significant” → </a:t>
            </a:r>
            <a:r>
              <a:rPr lang="en-US" sz="2800" b="1" dirty="0"/>
              <a:t>false positives</a:t>
            </a:r>
            <a:endParaRPr lang="en-US" sz="2800" dirty="0"/>
          </a:p>
          <a:p>
            <a:endParaRPr lang="en-US" sz="2800" b="1" dirty="0"/>
          </a:p>
          <a:p>
            <a:r>
              <a:rPr lang="en-US" sz="2800" b="1" dirty="0"/>
              <a:t>Key point:</a:t>
            </a:r>
            <a:br>
              <a:rPr lang="en-US" sz="2800" dirty="0"/>
            </a:br>
            <a:r>
              <a:rPr lang="en-US" sz="2800" i="1" dirty="0"/>
              <a:t>Backward stepwise finds the real predictors,</a:t>
            </a:r>
            <a:br>
              <a:rPr lang="en-US" sz="2800" i="1" dirty="0"/>
            </a:br>
            <a:r>
              <a:rPr lang="en-US" sz="2800" i="1" dirty="0"/>
              <a:t>but it makes false positives.</a:t>
            </a:r>
            <a:endParaRPr lang="en-US" sz="2800" dirty="0"/>
          </a:p>
          <a:p>
            <a:r>
              <a:rPr lang="en-US" sz="2800" i="1" dirty="0"/>
              <a:t>→ We need a way to correct the p values after selection.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074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2874</TotalTime>
  <Words>508</Words>
  <Application>Microsoft Office PowerPoint</Application>
  <PresentationFormat>Widescreen</PresentationFormat>
  <Paragraphs>54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Wingdings</vt:lpstr>
      <vt:lpstr>Office Theme</vt:lpstr>
      <vt:lpstr>Model Selection   :Reliability Check</vt:lpstr>
      <vt:lpstr>objectives</vt:lpstr>
      <vt:lpstr>Design Decisions</vt:lpstr>
      <vt:lpstr>PowerPoint Presentation</vt:lpstr>
      <vt:lpstr>PowerPoint Presentation</vt:lpstr>
      <vt:lpstr> Why stepwise inference fails  &lt;An Introduction to Statistical Learning (ISLR)&gt; “Stepwise selection produces overly optimistic inference  and unstable selected models.”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Lim, Hye Ryun</dc:creator>
  <cp:lastModifiedBy>Lim, Hye Ryun</cp:lastModifiedBy>
  <cp:revision>3</cp:revision>
  <dcterms:created xsi:type="dcterms:W3CDTF">2025-12-09T01:55:54Z</dcterms:created>
  <dcterms:modified xsi:type="dcterms:W3CDTF">2025-12-11T01:50:09Z</dcterms:modified>
</cp:coreProperties>
</file>